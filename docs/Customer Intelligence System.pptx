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embeddedFontLst>
    <p:embeddedFont>
      <p:font typeface="Montserrat" pitchFamily="3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Streamlit dashboard plus an offline ML pipeline built on the Online Retail II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questions are answered by one pipeline and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Returns are removed rather than netted against revenue. No outlier treatment is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sizes and the chosen k are not shown because they come from running the pipeline on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feature uses information from after the cutoff. The best model is picked by cross-validated F1 on the training data; the test period only reports performance. Risk bands: Low below 40%, Medium 40% to 70%, High 70% and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retention priority list ranks customers by past spending multiplied by churn probability, and can be downloaded as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tests use made-up data, so they prove the pipeline works but say nothing about real model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stating that the real numbers will be added once the pipeline has been run on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C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004A6D"/>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004A6D"/>
                </a:solidFill>
                <a:latin typeface="Montserrat" pitchFamily="34" charset="0"/>
                <a:ea typeface="Montserrat" pitchFamily="34" charset="-122"/>
                <a:cs typeface="Montserrat"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C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004A6D"/>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004A6D"/>
                </a:solidFill>
                <a:latin typeface="Montserrat" pitchFamily="34" charset="0"/>
                <a:ea typeface="Montserrat" pitchFamily="34" charset="-122"/>
                <a:cs typeface="Montserrat"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A6D"/>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99B4DE"/>
                </a:solidFill>
                <a:latin typeface="Montserrat" pitchFamily="34" charset="0"/>
                <a:ea typeface="Montserrat" pitchFamily="34" charset="-122"/>
                <a:cs typeface="Montserrat" pitchFamily="34" charset="-120"/>
              </a:rPr>
              <a:t>Machine Learning &amp; Data Science Project</a:t>
            </a:r>
            <a:endParaRPr lang="en-US" sz="1600" dirty="0"/>
          </a:p>
        </p:txBody>
      </p:sp>
      <p:sp>
        <p:nvSpPr>
          <p:cNvPr id="3" name="Text 1"/>
          <p:cNvSpPr/>
          <p:nvPr>
            <p:ph type="title"/>
          </p:nvPr>
        </p:nvSpPr>
        <p:spPr>
          <a:xfrm>
            <a:off x="812800" y="1998980"/>
            <a:ext cx="10883392" cy="1478280"/>
          </a:xfrm>
          <a:prstGeom prst="rect">
            <a:avLst/>
          </a:prstGeom>
          <a:noFill/>
          <a:ln/>
        </p:spPr>
        <p:txBody>
          <a:bodyPr wrap="square" lIns="0" tIns="0" rIns="0" bIns="0" rtlCol="0" anchor="t">
            <a:normAutofit/>
          </a:bodyPr>
          <a:lstStyle/>
          <a:p>
            <a:pPr algn="l" indent="0" marL="0">
              <a:lnSpc>
                <a:spcPts val="5720"/>
              </a:lnSpc>
              <a:buNone/>
            </a:pPr>
            <a:r>
              <a:rPr lang="en-US" sz="5200" b="1" i="0" dirty="0">
                <a:solidFill>
                  <a:srgbClr val="F7FCFF"/>
                </a:solidFill>
                <a:latin typeface="Montserrat" pitchFamily="34" charset="0"/>
                <a:ea typeface="Montserrat" pitchFamily="34" charset="-122"/>
                <a:cs typeface="Montserrat" pitchFamily="34" charset="-120"/>
              </a:rPr>
              <a:t>Customer Intelligence System</a:t>
            </a:r>
            <a:endParaRPr lang="en-US" sz="5200" dirty="0"/>
          </a:p>
        </p:txBody>
      </p:sp>
      <p:sp>
        <p:nvSpPr>
          <p:cNvPr id="4" name="Text 2"/>
          <p:cNvSpPr/>
          <p:nvPr/>
        </p:nvSpPr>
        <p:spPr>
          <a:xfrm>
            <a:off x="812800" y="3655060"/>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E8F9FF"/>
                </a:solidFill>
                <a:latin typeface="Montserrat" pitchFamily="34" charset="0"/>
                <a:ea typeface="Montserrat" pitchFamily="34" charset="-122"/>
                <a:cs typeface="Montserrat" pitchFamily="34" charset="-120"/>
              </a:rPr>
              <a:t>From Online Retail II transactions to customer segments and churn risk</a:t>
            </a:r>
            <a:endParaRPr lang="en-US" sz="2200" dirty="0"/>
          </a:p>
        </p:txBody>
      </p:sp>
      <p:pic>
        <p:nvPicPr>
          <p:cNvPr id="5" name="Image 0" descr="rect">    </p:cNvPr>
          <p:cNvPicPr>
            <a:picLocks noChangeAspect="1"/>
          </p:cNvPicPr>
          <p:nvPr/>
        </p:nvPicPr>
        <p:blipFill>
          <a:blip r:embed="rId1"/>
          <a:srcRect l="0" r="0" t="0" b="0"/>
          <a:stretch/>
        </p:blipFill>
        <p:spPr>
          <a:xfrm>
            <a:off x="812800" y="4221480"/>
            <a:ext cx="1524000" cy="63500"/>
          </a:xfrm>
          <a:prstGeom prst="rect">
            <a:avLst/>
          </a:prstGeom>
        </p:spPr>
      </p:pic>
      <p:sp>
        <p:nvSpPr>
          <p:cNvPr id="6" name="Text 3"/>
          <p:cNvSpPr/>
          <p:nvPr/>
        </p:nvSpPr>
        <p:spPr>
          <a:xfrm>
            <a:off x="812800" y="51866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9B4DE"/>
                </a:solidFill>
                <a:latin typeface="Montserrat" pitchFamily="34" charset="0"/>
                <a:ea typeface="Montserrat" pitchFamily="34" charset="-122"/>
                <a:cs typeface="Montserrat" pitchFamily="34" charset="-120"/>
              </a:rPr>
              <a:t>Team</a:t>
            </a:r>
            <a:endParaRPr lang="en-US" sz="1400" dirty="0"/>
          </a:p>
        </p:txBody>
      </p:sp>
      <p:sp>
        <p:nvSpPr>
          <p:cNvPr id="7" name="Text 4"/>
          <p:cNvSpPr/>
          <p:nvPr/>
        </p:nvSpPr>
        <p:spPr>
          <a:xfrm>
            <a:off x="812800" y="5511800"/>
            <a:ext cx="1088339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7FCFF"/>
                </a:solidFill>
                <a:latin typeface="Montserrat" pitchFamily="34" charset="0"/>
                <a:ea typeface="Montserrat" pitchFamily="34" charset="-122"/>
                <a:cs typeface="Montserrat" pitchFamily="34" charset="-120"/>
              </a:rPr>
              <a:t>Hager Khaled Abdelaati Eltpakh · Bassuony Ahmed Bassuony Atia · Salma Mohamed Mostafa Abu Elsoud · Mahmoud Emad Mohamed Awad · Ahmed Karam Atallah Abd Elkrem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C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4A6D"/>
                </a:solidFill>
                <a:latin typeface="Montserrat" pitchFamily="34" charset="0"/>
                <a:ea typeface="Montserrat" pitchFamily="34" charset="-122"/>
                <a:cs typeface="Montserrat" pitchFamily="34" charset="-120"/>
              </a:rPr>
              <a:t>Three Questions for the Business</a:t>
            </a:r>
            <a:endParaRPr lang="en-US" sz="3600" dirty="0"/>
          </a:p>
        </p:txBody>
      </p:sp>
      <p:sp>
        <p:nvSpPr>
          <p:cNvPr id="3" name="Shape 1"/>
          <p:cNvSpPr/>
          <p:nvPr/>
        </p:nvSpPr>
        <p:spPr>
          <a:xfrm>
            <a:off x="815975" y="2554605"/>
            <a:ext cx="3383677" cy="1718310"/>
          </a:xfrm>
          <a:prstGeom prst="roundRect">
            <a:avLst>
              <a:gd name="adj" fmla="val 8684"/>
            </a:avLst>
          </a:prstGeom>
          <a:solidFill>
            <a:srgbClr val="FFFFFF"/>
          </a:solidFill>
          <a:ln w="6350">
            <a:solidFill>
              <a:srgbClr val="D5E3F2"/>
            </a:solidFill>
            <a:prstDash val="solid"/>
          </a:ln>
        </p:spPr>
      </p:sp>
      <p:sp>
        <p:nvSpPr>
          <p:cNvPr id="4" name="Text 2"/>
          <p:cNvSpPr/>
          <p:nvPr/>
        </p:nvSpPr>
        <p:spPr>
          <a:xfrm>
            <a:off x="1071880" y="2810510"/>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4A6D"/>
                </a:solidFill>
                <a:latin typeface="Montserrat" pitchFamily="34" charset="0"/>
                <a:ea typeface="Montserrat" pitchFamily="34" charset="-122"/>
                <a:cs typeface="Montserrat" pitchFamily="34" charset="-120"/>
              </a:rPr>
              <a:t>Sales</a:t>
            </a:r>
            <a:endParaRPr lang="en-US" sz="2000" dirty="0"/>
          </a:p>
        </p:txBody>
      </p:sp>
      <p:sp>
        <p:nvSpPr>
          <p:cNvPr id="5" name="Text 3"/>
          <p:cNvSpPr/>
          <p:nvPr/>
        </p:nvSpPr>
        <p:spPr>
          <a:xfrm>
            <a:off x="1071880" y="3216910"/>
            <a:ext cx="295802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Where does revenue come from: which months, products and countries?</a:t>
            </a:r>
            <a:endParaRPr lang="en-US" sz="1500" dirty="0"/>
          </a:p>
        </p:txBody>
      </p:sp>
      <p:sp>
        <p:nvSpPr>
          <p:cNvPr id="6" name="Shape 4"/>
          <p:cNvSpPr/>
          <p:nvPr/>
        </p:nvSpPr>
        <p:spPr>
          <a:xfrm>
            <a:off x="4406027" y="2551430"/>
            <a:ext cx="3379946" cy="1724660"/>
          </a:xfrm>
          <a:prstGeom prst="roundRect">
            <a:avLst>
              <a:gd name="adj" fmla="val 8837"/>
            </a:avLst>
          </a:prstGeom>
          <a:solidFill>
            <a:srgbClr val="99B4DE"/>
          </a:solidFill>
          <a:ln/>
        </p:spPr>
      </p:sp>
      <p:sp>
        <p:nvSpPr>
          <p:cNvPr id="7" name="Text 5"/>
          <p:cNvSpPr/>
          <p:nvPr/>
        </p:nvSpPr>
        <p:spPr>
          <a:xfrm>
            <a:off x="4660027" y="2805430"/>
            <a:ext cx="295810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4A6D"/>
                </a:solidFill>
                <a:latin typeface="Montserrat" pitchFamily="34" charset="0"/>
                <a:ea typeface="Montserrat" pitchFamily="34" charset="-122"/>
                <a:cs typeface="Montserrat" pitchFamily="34" charset="-120"/>
              </a:rPr>
              <a:t>Segments</a:t>
            </a:r>
            <a:endParaRPr lang="en-US" sz="2000" dirty="0"/>
          </a:p>
        </p:txBody>
      </p:sp>
      <p:sp>
        <p:nvSpPr>
          <p:cNvPr id="8" name="Text 6"/>
          <p:cNvSpPr/>
          <p:nvPr/>
        </p:nvSpPr>
        <p:spPr>
          <a:xfrm>
            <a:off x="4660027" y="3211830"/>
            <a:ext cx="295810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Which customer groups exist, and how should each one be treated?</a:t>
            </a:r>
            <a:endParaRPr lang="en-US" sz="1500" dirty="0"/>
          </a:p>
        </p:txBody>
      </p:sp>
      <p:sp>
        <p:nvSpPr>
          <p:cNvPr id="9" name="Shape 7"/>
          <p:cNvSpPr/>
          <p:nvPr/>
        </p:nvSpPr>
        <p:spPr>
          <a:xfrm>
            <a:off x="7992349" y="2554605"/>
            <a:ext cx="3383677" cy="1718310"/>
          </a:xfrm>
          <a:prstGeom prst="roundRect">
            <a:avLst>
              <a:gd name="adj" fmla="val 8684"/>
            </a:avLst>
          </a:prstGeom>
          <a:solidFill>
            <a:srgbClr val="FFFFFF"/>
          </a:solidFill>
          <a:ln w="6350">
            <a:solidFill>
              <a:srgbClr val="D5E3F2"/>
            </a:solidFill>
            <a:prstDash val="solid"/>
          </a:ln>
        </p:spPr>
      </p:sp>
      <p:sp>
        <p:nvSpPr>
          <p:cNvPr id="10" name="Text 8"/>
          <p:cNvSpPr/>
          <p:nvPr/>
        </p:nvSpPr>
        <p:spPr>
          <a:xfrm>
            <a:off x="8248253" y="2810510"/>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4A6D"/>
                </a:solidFill>
                <a:latin typeface="Montserrat" pitchFamily="34" charset="0"/>
                <a:ea typeface="Montserrat" pitchFamily="34" charset="-122"/>
                <a:cs typeface="Montserrat" pitchFamily="34" charset="-120"/>
              </a:rPr>
              <a:t>Churn</a:t>
            </a:r>
            <a:endParaRPr lang="en-US" sz="2000" dirty="0"/>
          </a:p>
        </p:txBody>
      </p:sp>
      <p:sp>
        <p:nvSpPr>
          <p:cNvPr id="11" name="Text 9"/>
          <p:cNvSpPr/>
          <p:nvPr/>
        </p:nvSpPr>
        <p:spPr>
          <a:xfrm>
            <a:off x="8248253" y="3216910"/>
            <a:ext cx="295802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Who is likely to stop buying in the next 90 days, and whom should we contact first?</a:t>
            </a:r>
            <a:endParaRPr lang="en-US" sz="1500" dirty="0"/>
          </a:p>
        </p:txBody>
      </p:sp>
      <p:sp>
        <p:nvSpPr>
          <p:cNvPr id="12" name="Text 10"/>
          <p:cNvSpPr/>
          <p:nvPr/>
        </p:nvSpPr>
        <p:spPr>
          <a:xfrm>
            <a:off x="812800" y="55118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04A6D"/>
                </a:solidFill>
                <a:latin typeface="Montserrat" pitchFamily="34" charset="0"/>
                <a:ea typeface="Montserrat" pitchFamily="34" charset="-122"/>
                <a:cs typeface="Montserrat" pitchFamily="34" charset="-120"/>
              </a:rPr>
              <a:t>Dataset:</a:t>
            </a:r>
            <a:r>
              <a:rPr lang="en-US" sz="1500" dirty="0">
                <a:solidFill>
                  <a:srgbClr val="004A6D"/>
                </a:solidFill>
                <a:latin typeface="Montserrat" pitchFamily="34" charset="0"/>
                <a:ea typeface="Montserrat" pitchFamily="34" charset="-122"/>
                <a:cs typeface="Montserrat" pitchFamily="34" charset="-120"/>
              </a:rPr>
              <a:t> Online Retail II transactions with Invoice, StockCode, Description, Quantity, InvoiceDate, Price, Customer ID and Country.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F9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4A6D"/>
                </a:solidFill>
                <a:latin typeface="Montserrat" pitchFamily="34" charset="0"/>
                <a:ea typeface="Montserrat" pitchFamily="34" charset="-122"/>
                <a:cs typeface="Montserrat" pitchFamily="34" charset="-120"/>
              </a:rPr>
              <a:t>Data Cleaning</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192021"/>
          <a:ext cx="10556240" cy="2738120"/>
        </p:xfrm>
        <a:graphic>
          <a:graphicData uri="http://schemas.openxmlformats.org/drawingml/2006/table">
            <a:tbl>
              <a:tblPr/>
              <a:tblGrid>
                <a:gridCol w="5278120"/>
                <a:gridCol w="5278120"/>
              </a:tblGrid>
              <a:tr h="391160">
                <a:tc>
                  <a:txBody>
                    <a:bodyPr/>
                    <a:lstStyle/>
                    <a:p>
                      <a:pPr indent="0" marL="0">
                        <a:lnSpc>
                          <a:spcPts val="2100"/>
                        </a:lnSpc>
                        <a:buNone/>
                      </a:pPr>
                      <a:r>
                        <a:rPr lang="en-US" sz="1500" b="1" dirty="0">
                          <a:solidFill>
                            <a:srgbClr val="004A6D"/>
                          </a:solidFill>
                          <a:latin typeface="Montserrat" pitchFamily="34" charset="0"/>
                          <a:ea typeface="Montserrat" pitchFamily="34" charset="-122"/>
                          <a:cs typeface="Montserrat" pitchFamily="34" charset="-120"/>
                        </a:rPr>
                        <a:t>Issue</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ACB9BC"/>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ACB9BC"/>
                      </a:solidFill>
                      <a:prstDash val="solid"/>
                      <a:round/>
                      <a:headEnd type="none" w="med" len="med"/>
                      <a:tailEnd type="none" w="med" len="med"/>
                    </a:lnB>
                    <a:solidFill>
                      <a:srgbClr val="D7E7EC"/>
                    </a:solidFill>
                  </a:tcPr>
                </a:tc>
                <a:tc>
                  <a:txBody>
                    <a:bodyPr/>
                    <a:lstStyle/>
                    <a:p>
                      <a:pPr indent="0" marL="0">
                        <a:lnSpc>
                          <a:spcPts val="2100"/>
                        </a:lnSpc>
                        <a:buNone/>
                      </a:pPr>
                      <a:r>
                        <a:rPr lang="en-US" sz="1500" b="1" dirty="0">
                          <a:solidFill>
                            <a:srgbClr val="004A6D"/>
                          </a:solidFill>
                          <a:latin typeface="Montserrat" pitchFamily="34" charset="0"/>
                          <a:ea typeface="Montserrat" pitchFamily="34" charset="-122"/>
                          <a:cs typeface="Montserrat" pitchFamily="34" charset="-120"/>
                        </a:rPr>
                        <a:t>What the pipeline does</a:t>
                      </a:r>
                      <a:endParaRPr lang="en-US" sz="1500" dirty="0">
                        <a:latin typeface="Montserrat" charset="0"/>
                        <a:ea typeface="Montserrat" charset="0"/>
                        <a:cs typeface="Montserrat" charset="0"/>
                      </a:endParaRPr>
                    </a:p>
                  </a:txBody>
                  <a:tcPr marL="66675" marR="66675" marT="66675" marB="66675" anchor="t">
                    <a:lnL w="12700" cap="flat" cmpd="sng" algn="ctr">
                      <a:solidFill>
                        <a:srgbClr val="ACB9BC"/>
                      </a:solidFill>
                      <a:prstDash val="solid"/>
                      <a:round/>
                      <a:headEnd type="none" w="med" len="med"/>
                      <a:tailEnd type="none" w="med" len="med"/>
                    </a:lnL>
                    <a:lnR w="12700" cap="flat" cmpd="sng" algn="ctr">
                      <a:solidFill>
                        <a:srgbClr val="ACB9BC"/>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ACB9BC"/>
                      </a:solidFill>
                      <a:prstDash val="solid"/>
                      <a:round/>
                      <a:headEnd type="none" w="med" len="med"/>
                      <a:tailEnd type="none" w="med" len="med"/>
                    </a:lnB>
                    <a:solidFill>
                      <a:srgbClr val="D7E7EC"/>
                    </a:solidFill>
                  </a:tcPr>
                </a:tc>
              </a:tr>
              <a:tr h="391160">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Duplicates</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ACB9BC"/>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Drops fully duplicated rows</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ACB9BC"/>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r>
              <a:tr h="391160">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Missing values</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Drops rows without Description or Customer ID</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r>
              <a:tr h="391160">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Cancelled invoices</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Removes invoices starting with “C”</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r>
              <a:tr h="391160">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Returns and bad prices</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Keeps only Quantity &gt; 0 and Price &gt; 0</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r>
              <a:tr h="391160">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Non-product codes</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Removes postage, bank charges, test and gift codes</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r>
              <a:tr h="391160">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Standardization</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Adds TotalPrice and unifies country names</a:t>
                      </a:r>
                      <a:endParaRPr lang="en-US" sz="1500" dirty="0">
                        <a:latin typeface="Montserrat" charset="0"/>
                        <a:ea typeface="Montserrat" charset="0"/>
                        <a:cs typeface="Montserrat" charset="0"/>
                      </a:endParaRPr>
                    </a:p>
                  </a:txBody>
                  <a:tcPr marL="66675" marR="66675" marT="66675" marB="66675"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r>
            </a:tbl>
          </a:graphicData>
        </a:graphic>
      </p:graphicFrame>
      <p:sp>
        <p:nvSpPr>
          <p:cNvPr id="4" name="Text 1"/>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5F78"/>
                </a:solidFill>
                <a:latin typeface="Montserrat" pitchFamily="34" charset="0"/>
                <a:ea typeface="Montserrat" pitchFamily="34" charset="-122"/>
                <a:cs typeface="Montserrat" pitchFamily="34" charset="-120"/>
              </a:rPr>
              <a:t>Source: clean_transactions in pipeline.py. Row counts will be added after the pipeline is run.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C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4A6D"/>
                </a:solidFill>
                <a:latin typeface="Montserrat" pitchFamily="34" charset="0"/>
                <a:ea typeface="Montserrat" pitchFamily="34" charset="-122"/>
                <a:cs typeface="Montserrat" pitchFamily="34" charset="-120"/>
              </a:rPr>
              <a:t>Customer Segmentation</a:t>
            </a:r>
            <a:endParaRPr lang="en-US" sz="3600" dirty="0"/>
          </a:p>
        </p:txBody>
      </p:sp>
      <p:sp>
        <p:nvSpPr>
          <p:cNvPr id="3" name="Shape 1"/>
          <p:cNvSpPr/>
          <p:nvPr/>
        </p:nvSpPr>
        <p:spPr>
          <a:xfrm>
            <a:off x="815975" y="2654936"/>
            <a:ext cx="2523490" cy="1746250"/>
          </a:xfrm>
          <a:prstGeom prst="roundRect">
            <a:avLst>
              <a:gd name="adj" fmla="val 8545"/>
            </a:avLst>
          </a:prstGeom>
          <a:solidFill>
            <a:srgbClr val="FFFFFF"/>
          </a:solidFill>
          <a:ln w="6350">
            <a:solidFill>
              <a:srgbClr val="D5E3F2"/>
            </a:solidFill>
            <a:prstDash val="solid"/>
          </a:ln>
        </p:spPr>
      </p:sp>
      <p:sp>
        <p:nvSpPr>
          <p:cNvPr id="4" name="Text 2"/>
          <p:cNvSpPr/>
          <p:nvPr/>
        </p:nvSpPr>
        <p:spPr>
          <a:xfrm>
            <a:off x="1021080" y="2860041"/>
            <a:ext cx="21766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4A6D"/>
                </a:solidFill>
                <a:latin typeface="Montserrat" pitchFamily="34" charset="0"/>
                <a:ea typeface="Montserrat" pitchFamily="34" charset="-122"/>
                <a:cs typeface="Montserrat" pitchFamily="34" charset="-120"/>
              </a:rPr>
              <a:t>1. RFM</a:t>
            </a:r>
            <a:endParaRPr lang="en-US" sz="1800" dirty="0"/>
          </a:p>
        </p:txBody>
      </p:sp>
      <p:sp>
        <p:nvSpPr>
          <p:cNvPr id="5" name="Text 3"/>
          <p:cNvSpPr/>
          <p:nvPr/>
        </p:nvSpPr>
        <p:spPr>
          <a:xfrm>
            <a:off x="1021080" y="3210561"/>
            <a:ext cx="217667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Recency, Frequency and Monetary per customer</a:t>
            </a:r>
            <a:endParaRPr lang="en-US" sz="1400" dirty="0"/>
          </a:p>
        </p:txBody>
      </p:sp>
      <p:sp>
        <p:nvSpPr>
          <p:cNvPr id="6" name="Shape 4"/>
          <p:cNvSpPr/>
          <p:nvPr/>
        </p:nvSpPr>
        <p:spPr>
          <a:xfrm>
            <a:off x="3498215" y="2654936"/>
            <a:ext cx="2523490" cy="1746250"/>
          </a:xfrm>
          <a:prstGeom prst="roundRect">
            <a:avLst>
              <a:gd name="adj" fmla="val 8545"/>
            </a:avLst>
          </a:prstGeom>
          <a:solidFill>
            <a:srgbClr val="FFFFFF"/>
          </a:solidFill>
          <a:ln w="6350">
            <a:solidFill>
              <a:srgbClr val="D5E3F2"/>
            </a:solidFill>
            <a:prstDash val="solid"/>
          </a:ln>
        </p:spPr>
      </p:sp>
      <p:sp>
        <p:nvSpPr>
          <p:cNvPr id="7" name="Text 5"/>
          <p:cNvSpPr/>
          <p:nvPr/>
        </p:nvSpPr>
        <p:spPr>
          <a:xfrm>
            <a:off x="3703320" y="2860041"/>
            <a:ext cx="21766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4A6D"/>
                </a:solidFill>
                <a:latin typeface="Montserrat" pitchFamily="34" charset="0"/>
                <a:ea typeface="Montserrat" pitchFamily="34" charset="-122"/>
                <a:cs typeface="Montserrat" pitchFamily="34" charset="-120"/>
              </a:rPr>
              <a:t>2. Scale</a:t>
            </a:r>
            <a:endParaRPr lang="en-US" sz="1800" dirty="0"/>
          </a:p>
        </p:txBody>
      </p:sp>
      <p:sp>
        <p:nvSpPr>
          <p:cNvPr id="8" name="Text 6"/>
          <p:cNvSpPr/>
          <p:nvPr/>
        </p:nvSpPr>
        <p:spPr>
          <a:xfrm>
            <a:off x="3703320" y="3210561"/>
            <a:ext cx="217667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log1p transform, then StandardScaler</a:t>
            </a:r>
            <a:endParaRPr lang="en-US" sz="1400" dirty="0"/>
          </a:p>
        </p:txBody>
      </p:sp>
      <p:sp>
        <p:nvSpPr>
          <p:cNvPr id="9" name="Shape 7"/>
          <p:cNvSpPr/>
          <p:nvPr/>
        </p:nvSpPr>
        <p:spPr>
          <a:xfrm>
            <a:off x="6180455" y="2654936"/>
            <a:ext cx="2523490" cy="1746250"/>
          </a:xfrm>
          <a:prstGeom prst="roundRect">
            <a:avLst>
              <a:gd name="adj" fmla="val 8545"/>
            </a:avLst>
          </a:prstGeom>
          <a:solidFill>
            <a:srgbClr val="FFFFFF"/>
          </a:solidFill>
          <a:ln w="6350">
            <a:solidFill>
              <a:srgbClr val="D5E3F2"/>
            </a:solidFill>
            <a:prstDash val="solid"/>
          </a:ln>
        </p:spPr>
      </p:sp>
      <p:sp>
        <p:nvSpPr>
          <p:cNvPr id="10" name="Text 8"/>
          <p:cNvSpPr/>
          <p:nvPr/>
        </p:nvSpPr>
        <p:spPr>
          <a:xfrm>
            <a:off x="6385560" y="2860041"/>
            <a:ext cx="21766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4A6D"/>
                </a:solidFill>
                <a:latin typeface="Montserrat" pitchFamily="34" charset="0"/>
                <a:ea typeface="Montserrat" pitchFamily="34" charset="-122"/>
                <a:cs typeface="Montserrat" pitchFamily="34" charset="-120"/>
              </a:rPr>
              <a:t>3. K-Means</a:t>
            </a:r>
            <a:endParaRPr lang="en-US" sz="1800" dirty="0"/>
          </a:p>
        </p:txBody>
      </p:sp>
      <p:sp>
        <p:nvSpPr>
          <p:cNvPr id="11" name="Text 9"/>
          <p:cNvSpPr/>
          <p:nvPr/>
        </p:nvSpPr>
        <p:spPr>
          <a:xfrm>
            <a:off x="6385560" y="3210561"/>
            <a:ext cx="217667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k from 2 to 8, best k (at least 3) by silhouette score</a:t>
            </a:r>
            <a:endParaRPr lang="en-US" sz="1400" dirty="0"/>
          </a:p>
        </p:txBody>
      </p:sp>
      <p:sp>
        <p:nvSpPr>
          <p:cNvPr id="12" name="Shape 10"/>
          <p:cNvSpPr/>
          <p:nvPr/>
        </p:nvSpPr>
        <p:spPr>
          <a:xfrm>
            <a:off x="8859520" y="2651761"/>
            <a:ext cx="2519680" cy="1752600"/>
          </a:xfrm>
          <a:prstGeom prst="roundRect">
            <a:avLst>
              <a:gd name="adj" fmla="val 8696"/>
            </a:avLst>
          </a:prstGeom>
          <a:solidFill>
            <a:srgbClr val="99B4DE"/>
          </a:solidFill>
          <a:ln/>
        </p:spPr>
      </p:sp>
      <p:sp>
        <p:nvSpPr>
          <p:cNvPr id="13" name="Text 11"/>
          <p:cNvSpPr/>
          <p:nvPr/>
        </p:nvSpPr>
        <p:spPr>
          <a:xfrm>
            <a:off x="9062720" y="2854961"/>
            <a:ext cx="21766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4A6D"/>
                </a:solidFill>
                <a:latin typeface="Montserrat" pitchFamily="34" charset="0"/>
                <a:ea typeface="Montserrat" pitchFamily="34" charset="-122"/>
                <a:cs typeface="Montserrat" pitchFamily="34" charset="-120"/>
              </a:rPr>
              <a:t>4. Naming</a:t>
            </a:r>
            <a:endParaRPr lang="en-US" sz="1800" dirty="0"/>
          </a:p>
        </p:txBody>
      </p:sp>
      <p:sp>
        <p:nvSpPr>
          <p:cNvPr id="14" name="Text 12"/>
          <p:cNvSpPr/>
          <p:nvPr/>
        </p:nvSpPr>
        <p:spPr>
          <a:xfrm>
            <a:off x="9062720" y="3205480"/>
            <a:ext cx="2176679"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One shared rule compares each cluster’s average with the overall average</a:t>
            </a:r>
            <a:endParaRPr lang="en-US" sz="1400" dirty="0"/>
          </a:p>
        </p:txBody>
      </p:sp>
      <p:sp>
        <p:nvSpPr>
          <p:cNvPr id="15" name="Text 13"/>
          <p:cNvSpPr/>
          <p:nvPr/>
        </p:nvSpPr>
        <p:spPr>
          <a:xfrm>
            <a:off x="812800" y="574040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004A6D"/>
                </a:solidFill>
                <a:latin typeface="Montserrat" pitchFamily="34" charset="0"/>
                <a:ea typeface="Montserrat" pitchFamily="34" charset="-122"/>
                <a:cs typeface="Montserrat" pitchFamily="34" charset="-120"/>
              </a:rPr>
              <a:t>Segment names:</a:t>
            </a:r>
            <a:r>
              <a:rPr lang="en-US" sz="1600" dirty="0">
                <a:solidFill>
                  <a:srgbClr val="004A6D"/>
                </a:solidFill>
                <a:latin typeface="Montserrat" pitchFamily="34" charset="0"/>
                <a:ea typeface="Montserrat" pitchFamily="34" charset="-122"/>
                <a:cs typeface="Montserrat" pitchFamily="34" charset="-120"/>
              </a:rPr>
              <a:t> Champions · Potential Loyalists · New / Promising · At Risk · Lost / Hibernating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9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4A6D"/>
                </a:solidFill>
                <a:latin typeface="Montserrat" pitchFamily="34" charset="0"/>
                <a:ea typeface="Montserrat" pitchFamily="34" charset="-122"/>
                <a:cs typeface="Montserrat" pitchFamily="34" charset="-120"/>
              </a:rPr>
              <a:t>Churn Prediction</a:t>
            </a:r>
            <a:endParaRPr lang="en-US" sz="3600" dirty="0"/>
          </a:p>
        </p:txBody>
      </p:sp>
      <p:sp>
        <p:nvSpPr>
          <p:cNvPr id="3" name="Shape 1"/>
          <p:cNvSpPr/>
          <p:nvPr/>
        </p:nvSpPr>
        <p:spPr>
          <a:xfrm>
            <a:off x="815975" y="2011046"/>
            <a:ext cx="5180330" cy="3072130"/>
          </a:xfrm>
          <a:prstGeom prst="roundRect">
            <a:avLst>
              <a:gd name="adj" fmla="val 4857"/>
            </a:avLst>
          </a:prstGeom>
          <a:solidFill>
            <a:srgbClr val="FFFFFF"/>
          </a:solidFill>
          <a:ln w="6350">
            <a:solidFill>
              <a:srgbClr val="D5E3F2"/>
            </a:solidFill>
            <a:prstDash val="solid"/>
          </a:ln>
        </p:spPr>
      </p:sp>
      <p:sp>
        <p:nvSpPr>
          <p:cNvPr id="4" name="Text 2"/>
          <p:cNvSpPr/>
          <p:nvPr/>
        </p:nvSpPr>
        <p:spPr>
          <a:xfrm>
            <a:off x="1071880" y="2266950"/>
            <a:ext cx="480857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4A6D"/>
                </a:solidFill>
                <a:latin typeface="Montserrat" pitchFamily="34" charset="0"/>
                <a:ea typeface="Montserrat" pitchFamily="34" charset="-122"/>
                <a:cs typeface="Montserrat" pitchFamily="34" charset="-120"/>
              </a:rPr>
              <a:t>Label and features</a:t>
            </a:r>
            <a:endParaRPr lang="en-US" sz="1800" dirty="0"/>
          </a:p>
        </p:txBody>
      </p:sp>
      <p:sp>
        <p:nvSpPr>
          <p:cNvPr id="5" name="Text 3"/>
          <p:cNvSpPr/>
          <p:nvPr/>
        </p:nvSpPr>
        <p:spPr>
          <a:xfrm>
            <a:off x="1071880" y="2642871"/>
            <a:ext cx="480857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4A6D"/>
                </a:solidFill>
                <a:latin typeface="Montserrat" pitchFamily="34" charset="0"/>
                <a:ea typeface="Montserrat" pitchFamily="34" charset="-122"/>
                <a:cs typeface="Montserrat" pitchFamily="34" charset="-120"/>
              </a:rPr>
              <a:t>Churn = 1</a:t>
            </a:r>
            <a:r>
              <a:rPr lang="en-US" sz="1400" dirty="0">
                <a:solidFill>
                  <a:srgbClr val="004A6D"/>
                </a:solidFill>
                <a:latin typeface="Montserrat" pitchFamily="34" charset="0"/>
                <a:ea typeface="Montserrat" pitchFamily="34" charset="-122"/>
                <a:cs typeface="Montserrat" pitchFamily="34" charset="-120"/>
              </a:rPr>
              <a:t> if the customer makes no purchase in the 90 days after a cutoff date.</a:t>
            </a:r>
            <a:endParaRPr lang="en-US" sz="1400" dirty="0"/>
          </a:p>
        </p:txBody>
      </p:sp>
      <p:sp>
        <p:nvSpPr>
          <p:cNvPr id="6" name="Text 4"/>
          <p:cNvSpPr/>
          <p:nvPr/>
        </p:nvSpPr>
        <p:spPr>
          <a:xfrm>
            <a:off x="1071880" y="3242311"/>
            <a:ext cx="4808576"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Ten features are computed only from purchases before the cutoff: Recency, Frequency, Monetary, AvgOrderValue, TotalItems, UniqueProducts, TenureDays, AvgDaysBetweenPurchases, Orders_Last90d, IsOneTimeBuyer.</a:t>
            </a:r>
            <a:endParaRPr lang="en-US" sz="1400" dirty="0"/>
          </a:p>
        </p:txBody>
      </p:sp>
      <p:sp>
        <p:nvSpPr>
          <p:cNvPr id="7" name="Shape 5"/>
          <p:cNvSpPr/>
          <p:nvPr/>
        </p:nvSpPr>
        <p:spPr>
          <a:xfrm>
            <a:off x="6202680" y="2007871"/>
            <a:ext cx="5176520" cy="3078480"/>
          </a:xfrm>
          <a:prstGeom prst="roundRect">
            <a:avLst>
              <a:gd name="adj" fmla="val 4950"/>
            </a:avLst>
          </a:prstGeom>
          <a:solidFill>
            <a:srgbClr val="99B4DE"/>
          </a:solidFill>
          <a:ln/>
        </p:spPr>
      </p:sp>
      <p:sp>
        <p:nvSpPr>
          <p:cNvPr id="8" name="Text 6"/>
          <p:cNvSpPr/>
          <p:nvPr/>
        </p:nvSpPr>
        <p:spPr>
          <a:xfrm>
            <a:off x="6456680" y="2261871"/>
            <a:ext cx="480857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4A6D"/>
                </a:solidFill>
                <a:latin typeface="Montserrat" pitchFamily="34" charset="0"/>
                <a:ea typeface="Montserrat" pitchFamily="34" charset="-122"/>
                <a:cs typeface="Montserrat" pitchFamily="34" charset="-120"/>
              </a:rPr>
              <a:t>Models and evaluation</a:t>
            </a:r>
            <a:endParaRPr lang="en-US" sz="1800" dirty="0"/>
          </a:p>
        </p:txBody>
      </p:sp>
      <p:sp>
        <p:nvSpPr>
          <p:cNvPr id="9" name="Text 7"/>
          <p:cNvSpPr/>
          <p:nvPr/>
        </p:nvSpPr>
        <p:spPr>
          <a:xfrm>
            <a:off x="6456680" y="2637789"/>
            <a:ext cx="48085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Temporal split: 4 earlier training cutoffs, one later test cutoff.</a:t>
            </a:r>
            <a:endParaRPr lang="en-US" sz="1400" dirty="0"/>
          </a:p>
        </p:txBody>
      </p:sp>
      <p:sp>
        <p:nvSpPr>
          <p:cNvPr id="10" name="Text 8"/>
          <p:cNvSpPr/>
          <p:nvPr/>
        </p:nvSpPr>
        <p:spPr>
          <a:xfrm>
            <a:off x="6456680" y="3237232"/>
            <a:ext cx="4808576"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Logistic Regression, Decision Tree, Random Forest and optional XGBoost, against a Recency-only baseline. Tuned with grouped cross-validation on F1. The best model is chosen by cross-validated F1, not by the test set.</a:t>
            </a:r>
            <a:endParaRPr lang="en-US" sz="1400" dirty="0"/>
          </a:p>
        </p:txBody>
      </p:sp>
      <p:sp>
        <p:nvSpPr>
          <p:cNvPr id="11" name="Text 9"/>
          <p:cNvSpPr/>
          <p:nvPr/>
        </p:nvSpPr>
        <p:spPr>
          <a:xfrm>
            <a:off x="6456680" y="4583432"/>
            <a:ext cx="48085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Metrics: Accuracy, Precision, Recall, F1, ROC-AUC.</a:t>
            </a:r>
            <a:endParaRPr lang="en-US" sz="1400" dirty="0"/>
          </a:p>
        </p:txBody>
      </p:sp>
      <p:sp>
        <p:nvSpPr>
          <p:cNvPr id="12" name="Text 10"/>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04A6D"/>
                </a:solidFill>
                <a:latin typeface="Montserrat" pitchFamily="34" charset="0"/>
                <a:ea typeface="Montserrat" pitchFamily="34" charset="-122"/>
                <a:cs typeface="Montserrat" pitchFamily="34" charset="-120"/>
              </a:rPr>
              <a:t>Results:</a:t>
            </a:r>
            <a:r>
              <a:rPr lang="en-US" sz="1500" dirty="0">
                <a:solidFill>
                  <a:srgbClr val="004A6D"/>
                </a:solidFill>
                <a:latin typeface="Montserrat" pitchFamily="34" charset="0"/>
                <a:ea typeface="Montserrat" pitchFamily="34" charset="-122"/>
                <a:cs typeface="Montserrat" pitchFamily="34" charset="-120"/>
              </a:rPr>
              <a:t> [F1 / Recall / ROC-AUC of the best model: to be filled after running the pipeline]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C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4A6D"/>
                </a:solidFill>
                <a:latin typeface="Montserrat" pitchFamily="34" charset="0"/>
                <a:ea typeface="Montserrat" pitchFamily="34" charset="-122"/>
                <a:cs typeface="Montserrat" pitchFamily="34" charset="-120"/>
              </a:rPr>
              <a:t>The Streamlit Dashboard</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016124"/>
          <a:ext cx="10556240" cy="3089910"/>
        </p:xfrm>
        <a:graphic>
          <a:graphicData uri="http://schemas.openxmlformats.org/drawingml/2006/table">
            <a:tbl>
              <a:tblPr/>
              <a:tblGrid>
                <a:gridCol w="5278120"/>
                <a:gridCol w="5278120"/>
              </a:tblGrid>
              <a:tr h="391160">
                <a:tc>
                  <a:txBody>
                    <a:bodyPr/>
                    <a:lstStyle/>
                    <a:p>
                      <a:pPr indent="0" marL="0">
                        <a:lnSpc>
                          <a:spcPts val="2100"/>
                        </a:lnSpc>
                        <a:buNone/>
                      </a:pPr>
                      <a:r>
                        <a:rPr lang="en-US" sz="1500" b="1" dirty="0">
                          <a:solidFill>
                            <a:srgbClr val="004A6D"/>
                          </a:solidFill>
                          <a:latin typeface="Montserrat" pitchFamily="34" charset="0"/>
                          <a:ea typeface="Montserrat" pitchFamily="34" charset="-122"/>
                          <a:cs typeface="Montserrat" pitchFamily="34" charset="-120"/>
                        </a:rPr>
                        <a:t>Page</a:t>
                      </a:r>
                      <a:endParaRPr lang="en-US" sz="1500" dirty="0">
                        <a:latin typeface="Montserrat" charset="0"/>
                        <a:ea typeface="Montserrat" charset="0"/>
                        <a:cs typeface="Montserrat" charset="0"/>
                      </a:endParaRPr>
                    </a:p>
                  </a:txBody>
                  <a:tcPr marL="66675" marR="66675" marT="66675" marB="66675" anchor="t">
                    <a:lnL w="12700" cap="flat" cmpd="sng" algn="ctr">
                      <a:solidFill>
                        <a:srgbClr val="C5C9CB"/>
                      </a:solidFill>
                      <a:prstDash val="solid"/>
                      <a:round/>
                      <a:headEnd type="none" w="med" len="med"/>
                      <a:tailEnd type="none" w="med" len="med"/>
                    </a:lnL>
                    <a:lnR w="12700" cap="flat" cmpd="sng" algn="ctr">
                      <a:solidFill>
                        <a:srgbClr val="B7BABC"/>
                      </a:solidFill>
                      <a:prstDash val="solid"/>
                      <a:round/>
                      <a:headEnd type="none" w="med" len="med"/>
                      <a:tailEnd type="none" w="med" len="med"/>
                    </a:lnR>
                    <a:lnT w="12700" cap="flat" cmpd="sng" algn="ctr">
                      <a:solidFill>
                        <a:srgbClr val="C5C9CB"/>
                      </a:solidFill>
                      <a:prstDash val="solid"/>
                      <a:round/>
                      <a:headEnd type="none" w="med" len="med"/>
                      <a:tailEnd type="none" w="med" len="med"/>
                    </a:lnT>
                    <a:lnB w="12700" cap="flat" cmpd="sng" algn="ctr">
                      <a:solidFill>
                        <a:srgbClr val="B7BABC"/>
                      </a:solidFill>
                      <a:prstDash val="solid"/>
                      <a:round/>
                      <a:headEnd type="none" w="med" len="med"/>
                      <a:tailEnd type="none" w="med" len="med"/>
                    </a:lnB>
                    <a:solidFill>
                      <a:srgbClr val="E5E9EC"/>
                    </a:solidFill>
                  </a:tcPr>
                </a:tc>
                <a:tc>
                  <a:txBody>
                    <a:bodyPr/>
                    <a:lstStyle/>
                    <a:p>
                      <a:pPr indent="0" marL="0">
                        <a:lnSpc>
                          <a:spcPts val="2100"/>
                        </a:lnSpc>
                        <a:buNone/>
                      </a:pPr>
                      <a:r>
                        <a:rPr lang="en-US" sz="1500" b="1" dirty="0">
                          <a:solidFill>
                            <a:srgbClr val="004A6D"/>
                          </a:solidFill>
                          <a:latin typeface="Montserrat" pitchFamily="34" charset="0"/>
                          <a:ea typeface="Montserrat" pitchFamily="34" charset="-122"/>
                          <a:cs typeface="Montserrat" pitchFamily="34" charset="-120"/>
                        </a:rPr>
                        <a:t>What it shows</a:t>
                      </a:r>
                      <a:endParaRPr lang="en-US" sz="1500" dirty="0">
                        <a:latin typeface="Montserrat" charset="0"/>
                        <a:ea typeface="Montserrat" charset="0"/>
                        <a:cs typeface="Montserrat" charset="0"/>
                      </a:endParaRPr>
                    </a:p>
                  </a:txBody>
                  <a:tcPr marL="66675" marR="66675" marT="66675" marB="66675" anchor="t">
                    <a:lnL w="12700" cap="flat" cmpd="sng" algn="ctr">
                      <a:solidFill>
                        <a:srgbClr val="B7BABC"/>
                      </a:solidFill>
                      <a:prstDash val="solid"/>
                      <a:round/>
                      <a:headEnd type="none" w="med" len="med"/>
                      <a:tailEnd type="none" w="med" len="med"/>
                    </a:lnL>
                    <a:lnR w="12700" cap="flat" cmpd="sng" algn="ctr">
                      <a:solidFill>
                        <a:srgbClr val="B7BABC"/>
                      </a:solidFill>
                      <a:prstDash val="solid"/>
                      <a:round/>
                      <a:headEnd type="none" w="med" len="med"/>
                      <a:tailEnd type="none" w="med" len="med"/>
                    </a:lnR>
                    <a:lnT w="12700" cap="flat" cmpd="sng" algn="ctr">
                      <a:solidFill>
                        <a:srgbClr val="C5C9CB"/>
                      </a:solidFill>
                      <a:prstDash val="solid"/>
                      <a:round/>
                      <a:headEnd type="none" w="med" len="med"/>
                      <a:tailEnd type="none" w="med" len="med"/>
                    </a:lnT>
                    <a:lnB w="12700" cap="flat" cmpd="sng" algn="ctr">
                      <a:solidFill>
                        <a:srgbClr val="B7BABC"/>
                      </a:solidFill>
                      <a:prstDash val="solid"/>
                      <a:round/>
                      <a:headEnd type="none" w="med" len="med"/>
                      <a:tailEnd type="none" w="med" len="med"/>
                    </a:lnB>
                    <a:solidFill>
                      <a:srgbClr val="E5E9EC"/>
                    </a:solidFill>
                  </a:tcPr>
                </a:tc>
              </a:tr>
              <a:tr h="638810">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Overview</a:t>
                      </a:r>
                      <a:endParaRPr lang="en-US" sz="1500" dirty="0">
                        <a:latin typeface="Montserrat" charset="0"/>
                        <a:ea typeface="Montserrat" charset="0"/>
                        <a:cs typeface="Montserrat" charset="0"/>
                      </a:endParaRPr>
                    </a:p>
                  </a:txBody>
                  <a:tcPr marL="66675" marR="66675" marT="66675" marB="66675" anchor="t">
                    <a:lnL w="12700" cap="flat" cmpd="sng" algn="ctr">
                      <a:solidFill>
                        <a:srgbClr val="C5C9CB"/>
                      </a:solidFill>
                      <a:prstDash val="solid"/>
                      <a:round/>
                      <a:headEnd type="none" w="med" len="med"/>
                      <a:tailEnd type="none" w="med" len="med"/>
                    </a:lnL>
                    <a:lnR w="12700" cap="flat" cmpd="sng" algn="ctr">
                      <a:solidFill>
                        <a:srgbClr val="C5C9CB"/>
                      </a:solidFill>
                      <a:prstDash val="solid"/>
                      <a:round/>
                      <a:headEnd type="none" w="med" len="med"/>
                      <a:tailEnd type="none" w="med" len="med"/>
                    </a:lnR>
                    <a:lnT w="12700" cap="flat" cmpd="sng" algn="ctr">
                      <a:solidFill>
                        <a:srgbClr val="B7BABC"/>
                      </a:solidFill>
                      <a:prstDash val="solid"/>
                      <a:round/>
                      <a:headEnd type="none" w="med" len="med"/>
                      <a:tailEnd type="none" w="med" len="med"/>
                    </a:lnT>
                    <a:lnB w="12700" cap="flat" cmpd="sng" algn="ctr">
                      <a:solidFill>
                        <a:srgbClr val="C5C9CB"/>
                      </a:solidFill>
                      <a:prstDash val="solid"/>
                      <a:round/>
                      <a:headEnd type="none" w="med" len="med"/>
                      <a:tailEnd type="none" w="med" len="med"/>
                    </a:lnB>
                  </a:tcPr>
                </a:tc>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Revenue, orders, customers, AOV, segment and risk snapshot</a:t>
                      </a:r>
                      <a:endParaRPr lang="en-US" sz="1500" dirty="0">
                        <a:latin typeface="Montserrat" charset="0"/>
                        <a:ea typeface="Montserrat" charset="0"/>
                        <a:cs typeface="Montserrat" charset="0"/>
                      </a:endParaRPr>
                    </a:p>
                  </a:txBody>
                  <a:tcPr marL="66675" marR="66675" marT="66675" marB="66675" anchor="t">
                    <a:lnL w="12700" cap="flat" cmpd="sng" algn="ctr">
                      <a:solidFill>
                        <a:srgbClr val="C5C9CB"/>
                      </a:solidFill>
                      <a:prstDash val="solid"/>
                      <a:round/>
                      <a:headEnd type="none" w="med" len="med"/>
                      <a:tailEnd type="none" w="med" len="med"/>
                    </a:lnL>
                    <a:lnR w="12700" cap="flat" cmpd="sng" algn="ctr">
                      <a:solidFill>
                        <a:srgbClr val="C5C9CB"/>
                      </a:solidFill>
                      <a:prstDash val="solid"/>
                      <a:round/>
                      <a:headEnd type="none" w="med" len="med"/>
                      <a:tailEnd type="none" w="med" len="med"/>
                    </a:lnR>
                    <a:lnT w="12700" cap="flat" cmpd="sng" algn="ctr">
                      <a:solidFill>
                        <a:srgbClr val="B7BABC"/>
                      </a:solidFill>
                      <a:prstDash val="solid"/>
                      <a:round/>
                      <a:headEnd type="none" w="med" len="med"/>
                      <a:tailEnd type="none" w="med" len="med"/>
                    </a:lnT>
                    <a:lnB w="12700" cap="flat" cmpd="sng" algn="ctr">
                      <a:solidFill>
                        <a:srgbClr val="C5C9CB"/>
                      </a:solidFill>
                      <a:prstDash val="solid"/>
                      <a:round/>
                      <a:headEnd type="none" w="med" len="med"/>
                      <a:tailEnd type="none" w="med" len="med"/>
                    </a:lnB>
                  </a:tcPr>
                </a:tc>
              </a:tr>
              <a:tr h="391160">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Sales Analysis</a:t>
                      </a:r>
                      <a:endParaRPr lang="en-US" sz="1500" dirty="0">
                        <a:latin typeface="Montserrat" charset="0"/>
                        <a:ea typeface="Montserrat" charset="0"/>
                        <a:cs typeface="Montserrat" charset="0"/>
                      </a:endParaRPr>
                    </a:p>
                  </a:txBody>
                  <a:tcPr marL="66675" marR="66675" marT="66675" marB="66675" anchor="t">
                    <a:lnL w="12700" cap="flat" cmpd="sng" algn="ctr">
                      <a:solidFill>
                        <a:srgbClr val="C5C9CB"/>
                      </a:solidFill>
                      <a:prstDash val="solid"/>
                      <a:round/>
                      <a:headEnd type="none" w="med" len="med"/>
                      <a:tailEnd type="none" w="med" len="med"/>
                    </a:lnL>
                    <a:lnR w="12700" cap="flat" cmpd="sng" algn="ctr">
                      <a:solidFill>
                        <a:srgbClr val="C5C9CB"/>
                      </a:solidFill>
                      <a:prstDash val="solid"/>
                      <a:round/>
                      <a:headEnd type="none" w="med" len="med"/>
                      <a:tailEnd type="none" w="med" len="med"/>
                    </a:lnR>
                    <a:lnT w="12700" cap="flat" cmpd="sng" algn="ctr">
                      <a:solidFill>
                        <a:srgbClr val="C5C9CB"/>
                      </a:solidFill>
                      <a:prstDash val="solid"/>
                      <a:round/>
                      <a:headEnd type="none" w="med" len="med"/>
                      <a:tailEnd type="none" w="med" len="med"/>
                    </a:lnT>
                    <a:lnB w="12700" cap="flat" cmpd="sng" algn="ctr">
                      <a:solidFill>
                        <a:srgbClr val="C5C9CB"/>
                      </a:solidFill>
                      <a:prstDash val="solid"/>
                      <a:round/>
                      <a:headEnd type="none" w="med" len="med"/>
                      <a:tailEnd type="none" w="med" len="med"/>
                    </a:lnB>
                  </a:tcPr>
                </a:tc>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Month filter, top products, top countries</a:t>
                      </a:r>
                      <a:endParaRPr lang="en-US" sz="1500" dirty="0">
                        <a:latin typeface="Montserrat" charset="0"/>
                        <a:ea typeface="Montserrat" charset="0"/>
                        <a:cs typeface="Montserrat" charset="0"/>
                      </a:endParaRPr>
                    </a:p>
                  </a:txBody>
                  <a:tcPr marL="66675" marR="66675" marT="66675" marB="66675" anchor="t">
                    <a:lnL w="12700" cap="flat" cmpd="sng" algn="ctr">
                      <a:solidFill>
                        <a:srgbClr val="C5C9CB"/>
                      </a:solidFill>
                      <a:prstDash val="solid"/>
                      <a:round/>
                      <a:headEnd type="none" w="med" len="med"/>
                      <a:tailEnd type="none" w="med" len="med"/>
                    </a:lnL>
                    <a:lnR w="12700" cap="flat" cmpd="sng" algn="ctr">
                      <a:solidFill>
                        <a:srgbClr val="C5C9CB"/>
                      </a:solidFill>
                      <a:prstDash val="solid"/>
                      <a:round/>
                      <a:headEnd type="none" w="med" len="med"/>
                      <a:tailEnd type="none" w="med" len="med"/>
                    </a:lnR>
                    <a:lnT w="12700" cap="flat" cmpd="sng" algn="ctr">
                      <a:solidFill>
                        <a:srgbClr val="C5C9CB"/>
                      </a:solidFill>
                      <a:prstDash val="solid"/>
                      <a:round/>
                      <a:headEnd type="none" w="med" len="med"/>
                      <a:tailEnd type="none" w="med" len="med"/>
                    </a:lnT>
                    <a:lnB w="12700" cap="flat" cmpd="sng" algn="ctr">
                      <a:solidFill>
                        <a:srgbClr val="C5C9CB"/>
                      </a:solidFill>
                      <a:prstDash val="solid"/>
                      <a:round/>
                      <a:headEnd type="none" w="med" len="med"/>
                      <a:tailEnd type="none" w="med" len="med"/>
                    </a:lnB>
                  </a:tcPr>
                </a:tc>
              </a:tr>
              <a:tr h="391160">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Customer Segmentation</a:t>
                      </a:r>
                      <a:endParaRPr lang="en-US" sz="1500" dirty="0">
                        <a:latin typeface="Montserrat" charset="0"/>
                        <a:ea typeface="Montserrat" charset="0"/>
                        <a:cs typeface="Montserrat" charset="0"/>
                      </a:endParaRPr>
                    </a:p>
                  </a:txBody>
                  <a:tcPr marL="66675" marR="66675" marT="66675" marB="66675" anchor="t">
                    <a:lnL w="12700" cap="flat" cmpd="sng" algn="ctr">
                      <a:solidFill>
                        <a:srgbClr val="C5C9CB"/>
                      </a:solidFill>
                      <a:prstDash val="solid"/>
                      <a:round/>
                      <a:headEnd type="none" w="med" len="med"/>
                      <a:tailEnd type="none" w="med" len="med"/>
                    </a:lnL>
                    <a:lnR w="12700" cap="flat" cmpd="sng" algn="ctr">
                      <a:solidFill>
                        <a:srgbClr val="C5C9CB"/>
                      </a:solidFill>
                      <a:prstDash val="solid"/>
                      <a:round/>
                      <a:headEnd type="none" w="med" len="med"/>
                      <a:tailEnd type="none" w="med" len="med"/>
                    </a:lnR>
                    <a:lnT w="12700" cap="flat" cmpd="sng" algn="ctr">
                      <a:solidFill>
                        <a:srgbClr val="C5C9CB"/>
                      </a:solidFill>
                      <a:prstDash val="solid"/>
                      <a:round/>
                      <a:headEnd type="none" w="med" len="med"/>
                      <a:tailEnd type="none" w="med" len="med"/>
                    </a:lnT>
                    <a:lnB w="12700" cap="flat" cmpd="sng" algn="ctr">
                      <a:solidFill>
                        <a:srgbClr val="C5C9CB"/>
                      </a:solidFill>
                      <a:prstDash val="solid"/>
                      <a:round/>
                      <a:headEnd type="none" w="med" len="med"/>
                      <a:tailEnd type="none" w="med" len="med"/>
                    </a:lnB>
                  </a:tcPr>
                </a:tc>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Cluster summary, segment actions, customer lookup</a:t>
                      </a:r>
                      <a:endParaRPr lang="en-US" sz="1500" dirty="0">
                        <a:latin typeface="Montserrat" charset="0"/>
                        <a:ea typeface="Montserrat" charset="0"/>
                        <a:cs typeface="Montserrat" charset="0"/>
                      </a:endParaRPr>
                    </a:p>
                  </a:txBody>
                  <a:tcPr marL="66675" marR="66675" marT="66675" marB="66675" anchor="t">
                    <a:lnL w="12700" cap="flat" cmpd="sng" algn="ctr">
                      <a:solidFill>
                        <a:srgbClr val="C5C9CB"/>
                      </a:solidFill>
                      <a:prstDash val="solid"/>
                      <a:round/>
                      <a:headEnd type="none" w="med" len="med"/>
                      <a:tailEnd type="none" w="med" len="med"/>
                    </a:lnL>
                    <a:lnR w="12700" cap="flat" cmpd="sng" algn="ctr">
                      <a:solidFill>
                        <a:srgbClr val="C5C9CB"/>
                      </a:solidFill>
                      <a:prstDash val="solid"/>
                      <a:round/>
                      <a:headEnd type="none" w="med" len="med"/>
                      <a:tailEnd type="none" w="med" len="med"/>
                    </a:lnR>
                    <a:lnT w="12700" cap="flat" cmpd="sng" algn="ctr">
                      <a:solidFill>
                        <a:srgbClr val="C5C9CB"/>
                      </a:solidFill>
                      <a:prstDash val="solid"/>
                      <a:round/>
                      <a:headEnd type="none" w="med" len="med"/>
                      <a:tailEnd type="none" w="med" len="med"/>
                    </a:lnT>
                    <a:lnB w="12700" cap="flat" cmpd="sng" algn="ctr">
                      <a:solidFill>
                        <a:srgbClr val="C5C9CB"/>
                      </a:solidFill>
                      <a:prstDash val="solid"/>
                      <a:round/>
                      <a:headEnd type="none" w="med" len="med"/>
                      <a:tailEnd type="none" w="med" len="med"/>
                    </a:lnB>
                  </a:tcPr>
                </a:tc>
              </a:tr>
              <a:tr h="638810">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Churn Prediction</a:t>
                      </a:r>
                      <a:endParaRPr lang="en-US" sz="1500" dirty="0">
                        <a:latin typeface="Montserrat" charset="0"/>
                        <a:ea typeface="Montserrat" charset="0"/>
                        <a:cs typeface="Montserrat" charset="0"/>
                      </a:endParaRPr>
                    </a:p>
                  </a:txBody>
                  <a:tcPr marL="66675" marR="66675" marT="66675" marB="66675" anchor="t">
                    <a:lnL w="12700" cap="flat" cmpd="sng" algn="ctr">
                      <a:solidFill>
                        <a:srgbClr val="C5C9CB"/>
                      </a:solidFill>
                      <a:prstDash val="solid"/>
                      <a:round/>
                      <a:headEnd type="none" w="med" len="med"/>
                      <a:tailEnd type="none" w="med" len="med"/>
                    </a:lnL>
                    <a:lnR w="12700" cap="flat" cmpd="sng" algn="ctr">
                      <a:solidFill>
                        <a:srgbClr val="C5C9CB"/>
                      </a:solidFill>
                      <a:prstDash val="solid"/>
                      <a:round/>
                      <a:headEnd type="none" w="med" len="med"/>
                      <a:tailEnd type="none" w="med" len="med"/>
                    </a:lnR>
                    <a:lnT w="12700" cap="flat" cmpd="sng" algn="ctr">
                      <a:solidFill>
                        <a:srgbClr val="C5C9CB"/>
                      </a:solidFill>
                      <a:prstDash val="solid"/>
                      <a:round/>
                      <a:headEnd type="none" w="med" len="med"/>
                      <a:tailEnd type="none" w="med" len="med"/>
                    </a:lnT>
                    <a:lnB w="12700" cap="flat" cmpd="sng" algn="ctr">
                      <a:solidFill>
                        <a:srgbClr val="C5C9CB"/>
                      </a:solidFill>
                      <a:prstDash val="solid"/>
                      <a:round/>
                      <a:headEnd type="none" w="med" len="med"/>
                      <a:tailEnd type="none" w="med" len="med"/>
                    </a:lnB>
                  </a:tcPr>
                </a:tc>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Metrics, ROC and confusion matrix, retention priority list</a:t>
                      </a:r>
                      <a:endParaRPr lang="en-US" sz="1500" dirty="0">
                        <a:latin typeface="Montserrat" charset="0"/>
                        <a:ea typeface="Montserrat" charset="0"/>
                        <a:cs typeface="Montserrat" charset="0"/>
                      </a:endParaRPr>
                    </a:p>
                  </a:txBody>
                  <a:tcPr marL="66675" marR="66675" marT="66675" marB="66675" anchor="t">
                    <a:lnL w="12700" cap="flat" cmpd="sng" algn="ctr">
                      <a:solidFill>
                        <a:srgbClr val="C5C9CB"/>
                      </a:solidFill>
                      <a:prstDash val="solid"/>
                      <a:round/>
                      <a:headEnd type="none" w="med" len="med"/>
                      <a:tailEnd type="none" w="med" len="med"/>
                    </a:lnL>
                    <a:lnR w="12700" cap="flat" cmpd="sng" algn="ctr">
                      <a:solidFill>
                        <a:srgbClr val="C5C9CB"/>
                      </a:solidFill>
                      <a:prstDash val="solid"/>
                      <a:round/>
                      <a:headEnd type="none" w="med" len="med"/>
                      <a:tailEnd type="none" w="med" len="med"/>
                    </a:lnR>
                    <a:lnT w="12700" cap="flat" cmpd="sng" algn="ctr">
                      <a:solidFill>
                        <a:srgbClr val="C5C9CB"/>
                      </a:solidFill>
                      <a:prstDash val="solid"/>
                      <a:round/>
                      <a:headEnd type="none" w="med" len="med"/>
                      <a:tailEnd type="none" w="med" len="med"/>
                    </a:lnT>
                    <a:lnB w="12700" cap="flat" cmpd="sng" algn="ctr">
                      <a:solidFill>
                        <a:srgbClr val="C5C9CB"/>
                      </a:solidFill>
                      <a:prstDash val="solid"/>
                      <a:round/>
                      <a:headEnd type="none" w="med" len="med"/>
                      <a:tailEnd type="none" w="med" len="med"/>
                    </a:lnB>
                  </a:tcPr>
                </a:tc>
              </a:tr>
              <a:tr h="638810">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Customer Prediction</a:t>
                      </a:r>
                      <a:endParaRPr lang="en-US" sz="1500" dirty="0">
                        <a:latin typeface="Montserrat" charset="0"/>
                        <a:ea typeface="Montserrat" charset="0"/>
                        <a:cs typeface="Montserrat" charset="0"/>
                      </a:endParaRPr>
                    </a:p>
                  </a:txBody>
                  <a:tcPr marL="66675" marR="66675" marT="66675" marB="66675" anchor="t">
                    <a:lnL w="12700" cap="flat" cmpd="sng" algn="ctr">
                      <a:solidFill>
                        <a:srgbClr val="C5C9CB"/>
                      </a:solidFill>
                      <a:prstDash val="solid"/>
                      <a:round/>
                      <a:headEnd type="none" w="med" len="med"/>
                      <a:tailEnd type="none" w="med" len="med"/>
                    </a:lnL>
                    <a:lnR w="12700" cap="flat" cmpd="sng" algn="ctr">
                      <a:solidFill>
                        <a:srgbClr val="C5C9CB"/>
                      </a:solidFill>
                      <a:prstDash val="solid"/>
                      <a:round/>
                      <a:headEnd type="none" w="med" len="med"/>
                      <a:tailEnd type="none" w="med" len="med"/>
                    </a:lnR>
                    <a:lnT w="12700" cap="flat" cmpd="sng" algn="ctr">
                      <a:solidFill>
                        <a:srgbClr val="C5C9CB"/>
                      </a:solidFill>
                      <a:prstDash val="solid"/>
                      <a:round/>
                      <a:headEnd type="none" w="med" len="med"/>
                      <a:tailEnd type="none" w="med" len="med"/>
                    </a:lnT>
                    <a:lnB w="12700" cap="flat" cmpd="sng" algn="ctr">
                      <a:solidFill>
                        <a:srgbClr val="C5C9CB"/>
                      </a:solidFill>
                      <a:prstDash val="solid"/>
                      <a:round/>
                      <a:headEnd type="none" w="med" len="med"/>
                      <a:tailEnd type="none" w="med" len="med"/>
                    </a:lnB>
                  </a:tcPr>
                </a:tc>
                <a:tc>
                  <a:txBody>
                    <a:bodyPr/>
                    <a:lstStyle/>
                    <a:p>
                      <a:pPr indent="0" marL="0">
                        <a:lnSpc>
                          <a:spcPts val="2100"/>
                        </a:lnSpc>
                        <a:buNone/>
                      </a:pPr>
                      <a:r>
                        <a:rPr lang="en-US" sz="1500" dirty="0">
                          <a:solidFill>
                            <a:srgbClr val="004A6D"/>
                          </a:solidFill>
                          <a:latin typeface="Montserrat" pitchFamily="34" charset="0"/>
                          <a:ea typeface="Montserrat" pitchFamily="34" charset="-122"/>
                          <a:cs typeface="Montserrat" pitchFamily="34" charset="-120"/>
                        </a:rPr>
                        <a:t>Score one customer, an uploaded file, or an existing ID</a:t>
                      </a:r>
                      <a:endParaRPr lang="en-US" sz="1500" dirty="0">
                        <a:latin typeface="Montserrat" charset="0"/>
                        <a:ea typeface="Montserrat" charset="0"/>
                        <a:cs typeface="Montserrat" charset="0"/>
                      </a:endParaRPr>
                    </a:p>
                  </a:txBody>
                  <a:tcPr marL="66675" marR="66675" marT="66675" marB="66675" anchor="t">
                    <a:lnL w="12700" cap="flat" cmpd="sng" algn="ctr">
                      <a:solidFill>
                        <a:srgbClr val="C5C9CB"/>
                      </a:solidFill>
                      <a:prstDash val="solid"/>
                      <a:round/>
                      <a:headEnd type="none" w="med" len="med"/>
                      <a:tailEnd type="none" w="med" len="med"/>
                    </a:lnL>
                    <a:lnR w="12700" cap="flat" cmpd="sng" algn="ctr">
                      <a:solidFill>
                        <a:srgbClr val="C5C9CB"/>
                      </a:solidFill>
                      <a:prstDash val="solid"/>
                      <a:round/>
                      <a:headEnd type="none" w="med" len="med"/>
                      <a:tailEnd type="none" w="med" len="med"/>
                    </a:lnR>
                    <a:lnT w="12700" cap="flat" cmpd="sng" algn="ctr">
                      <a:solidFill>
                        <a:srgbClr val="C5C9CB"/>
                      </a:solidFill>
                      <a:prstDash val="solid"/>
                      <a:round/>
                      <a:headEnd type="none" w="med" len="med"/>
                      <a:tailEnd type="none" w="med" len="med"/>
                    </a:lnT>
                    <a:lnB w="12700" cap="flat" cmpd="sng" algn="ctr">
                      <a:solidFill>
                        <a:srgbClr val="C5C9CB"/>
                      </a:solidFill>
                      <a:prstDash val="solid"/>
                      <a:round/>
                      <a:headEnd type="none" w="med" len="med"/>
                      <a:tailEnd type="none" w="med" len="med"/>
                    </a:lnB>
                  </a:tcPr>
                </a:tc>
              </a:tr>
            </a:tbl>
          </a:graphicData>
        </a:graphic>
      </p:graphicFrame>
      <p:sp>
        <p:nvSpPr>
          <p:cNvPr id="4" name="Text 1"/>
          <p:cNvSpPr/>
          <p:nvPr/>
        </p:nvSpPr>
        <p:spPr>
          <a:xfrm>
            <a:off x="812800" y="579628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5F78"/>
                </a:solidFill>
                <a:latin typeface="Montserrat" pitchFamily="34" charset="0"/>
                <a:ea typeface="Montserrat" pitchFamily="34" charset="-122"/>
                <a:cs typeface="Montserrat" pitchFamily="34" charset="-120"/>
              </a:rPr>
              <a:t>Without generated result files, the app opens a clearly labelled demo preview.</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9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4A6D"/>
                </a:solidFill>
                <a:latin typeface="Montserrat" pitchFamily="34" charset="0"/>
                <a:ea typeface="Montserrat" pitchFamily="34" charset="-122"/>
                <a:cs typeface="Montserrat" pitchFamily="34" charset="-120"/>
              </a:rPr>
              <a:t>What We Improved in the Code</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001521"/>
          <a:ext cx="10556240" cy="3119120"/>
        </p:xfrm>
        <a:graphic>
          <a:graphicData uri="http://schemas.openxmlformats.org/drawingml/2006/table">
            <a:tbl>
              <a:tblPr/>
              <a:tblGrid>
                <a:gridCol w="3518747"/>
                <a:gridCol w="3518747"/>
                <a:gridCol w="3518747"/>
              </a:tblGrid>
              <a:tr h="365760">
                <a:tc>
                  <a:txBody>
                    <a:bodyPr/>
                    <a:lstStyle/>
                    <a:p>
                      <a:pPr indent="0" marL="0">
                        <a:lnSpc>
                          <a:spcPts val="1960"/>
                        </a:lnSpc>
                        <a:buNone/>
                      </a:pPr>
                      <a:r>
                        <a:rPr lang="en-US" sz="1400" b="1" dirty="0">
                          <a:solidFill>
                            <a:srgbClr val="004A6D"/>
                          </a:solidFill>
                          <a:latin typeface="Montserrat" pitchFamily="34" charset="0"/>
                          <a:ea typeface="Montserrat" pitchFamily="34" charset="-122"/>
                          <a:cs typeface="Montserrat" pitchFamily="34" charset="-120"/>
                        </a:rPr>
                        <a:t>Area</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ACB9BC"/>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ACB9BC"/>
                      </a:solidFill>
                      <a:prstDash val="solid"/>
                      <a:round/>
                      <a:headEnd type="none" w="med" len="med"/>
                      <a:tailEnd type="none" w="med" len="med"/>
                    </a:lnB>
                    <a:solidFill>
                      <a:srgbClr val="D7E7EC"/>
                    </a:solidFill>
                  </a:tcPr>
                </a:tc>
                <a:tc>
                  <a:txBody>
                    <a:bodyPr/>
                    <a:lstStyle/>
                    <a:p>
                      <a:pPr indent="0" marL="0">
                        <a:lnSpc>
                          <a:spcPts val="1960"/>
                        </a:lnSpc>
                        <a:buNone/>
                      </a:pPr>
                      <a:r>
                        <a:rPr lang="en-US" sz="1400" b="1" dirty="0">
                          <a:solidFill>
                            <a:srgbClr val="004A6D"/>
                          </a:solidFill>
                          <a:latin typeface="Montserrat" pitchFamily="34" charset="0"/>
                          <a:ea typeface="Montserrat" pitchFamily="34" charset="-122"/>
                          <a:cs typeface="Montserrat" pitchFamily="34" charset="-120"/>
                        </a:rPr>
                        <a:t>Before</a:t>
                      </a:r>
                      <a:endParaRPr lang="en-US" sz="1400" dirty="0">
                        <a:latin typeface="Montserrat" charset="0"/>
                        <a:ea typeface="Montserrat" charset="0"/>
                        <a:cs typeface="Montserrat" charset="0"/>
                      </a:endParaRPr>
                    </a:p>
                  </a:txBody>
                  <a:tcPr marL="62230" marR="62230" marT="62230" marB="62230" anchor="t">
                    <a:lnL w="12700" cap="flat" cmpd="sng" algn="ctr">
                      <a:solidFill>
                        <a:srgbClr val="ACB9BC"/>
                      </a:solidFill>
                      <a:prstDash val="solid"/>
                      <a:round/>
                      <a:headEnd type="none" w="med" len="med"/>
                      <a:tailEnd type="none" w="med" len="med"/>
                    </a:lnL>
                    <a:lnR w="12700" cap="flat" cmpd="sng" algn="ctr">
                      <a:solidFill>
                        <a:srgbClr val="ACB9BC"/>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ACB9BC"/>
                      </a:solidFill>
                      <a:prstDash val="solid"/>
                      <a:round/>
                      <a:headEnd type="none" w="med" len="med"/>
                      <a:tailEnd type="none" w="med" len="med"/>
                    </a:lnB>
                    <a:solidFill>
                      <a:srgbClr val="D7E7EC"/>
                    </a:solidFill>
                  </a:tcPr>
                </a:tc>
                <a:tc>
                  <a:txBody>
                    <a:bodyPr/>
                    <a:lstStyle/>
                    <a:p>
                      <a:pPr indent="0" marL="0">
                        <a:lnSpc>
                          <a:spcPts val="1960"/>
                        </a:lnSpc>
                        <a:buNone/>
                      </a:pPr>
                      <a:r>
                        <a:rPr lang="en-US" sz="1400" b="1" dirty="0">
                          <a:solidFill>
                            <a:srgbClr val="004A6D"/>
                          </a:solidFill>
                          <a:latin typeface="Montserrat" pitchFamily="34" charset="0"/>
                          <a:ea typeface="Montserrat" pitchFamily="34" charset="-122"/>
                          <a:cs typeface="Montserrat" pitchFamily="34" charset="-120"/>
                        </a:rPr>
                        <a:t>After</a:t>
                      </a:r>
                      <a:endParaRPr lang="en-US" sz="1400" dirty="0">
                        <a:latin typeface="Montserrat" charset="0"/>
                        <a:ea typeface="Montserrat" charset="0"/>
                        <a:cs typeface="Montserrat" charset="0"/>
                      </a:endParaRPr>
                    </a:p>
                  </a:txBody>
                  <a:tcPr marL="62230" marR="62230" marT="62230" marB="62230" anchor="t">
                    <a:lnL w="12700" cap="flat" cmpd="sng" algn="ctr">
                      <a:solidFill>
                        <a:srgbClr val="ACB9BC"/>
                      </a:solidFill>
                      <a:prstDash val="solid"/>
                      <a:round/>
                      <a:headEnd type="none" w="med" len="med"/>
                      <a:tailEnd type="none" w="med" len="med"/>
                    </a:lnL>
                    <a:lnR w="12700" cap="flat" cmpd="sng" algn="ctr">
                      <a:solidFill>
                        <a:srgbClr val="ACB9BC"/>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ACB9BC"/>
                      </a:solidFill>
                      <a:prstDash val="solid"/>
                      <a:round/>
                      <a:headEnd type="none" w="med" len="med"/>
                      <a:tailEnd type="none" w="med" len="med"/>
                    </a:lnB>
                    <a:solidFill>
                      <a:srgbClr val="D7E7EC"/>
                    </a:solidFill>
                  </a:tcPr>
                </a:tc>
              </a:tr>
              <a:tr h="365760">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Segment naming</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ACB9BC"/>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Same rule written in two files</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ACB9BC"/>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One shared rule (segment_rules.py)</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ACB9BC"/>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r>
              <a:tr h="596900">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Best-model choice</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Highest F1 on the test set</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Highest cross-validated F1 on training data</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r>
              <a:tr h="596900">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Dead code</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Unused pipeline page, force-push script</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Both removed</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r>
              <a:tr h="596900">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Testing</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No tests</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4 smoke tests, including a no-future-data check</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r>
              <a:tr h="596900">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Documentation</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README listed 6 pages, app has 5</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c>
                  <a:txBody>
                    <a:bodyPr/>
                    <a:lstStyle/>
                    <a:p>
                      <a:pPr indent="0" marL="0">
                        <a:lnSpc>
                          <a:spcPts val="1960"/>
                        </a:lnSpc>
                        <a:buNone/>
                      </a:pPr>
                      <a:r>
                        <a:rPr lang="en-US" sz="1400" dirty="0">
                          <a:solidFill>
                            <a:srgbClr val="004A6D"/>
                          </a:solidFill>
                          <a:latin typeface="Montserrat" pitchFamily="34" charset="0"/>
                          <a:ea typeface="Montserrat" pitchFamily="34" charset="-122"/>
                          <a:cs typeface="Montserrat" pitchFamily="34" charset="-120"/>
                        </a:rPr>
                        <a:t>README matches the app; code facts added to the docs</a:t>
                      </a:r>
                      <a:endParaRPr lang="en-US" sz="1400" dirty="0">
                        <a:latin typeface="Montserrat" charset="0"/>
                        <a:ea typeface="Montserrat" charset="0"/>
                        <a:cs typeface="Montserrat" charset="0"/>
                      </a:endParaRPr>
                    </a:p>
                  </a:txBody>
                  <a:tcPr marL="62230" marR="62230" marT="62230" marB="62230" anchor="t">
                    <a:lnL w="12700" cap="flat" cmpd="sng" algn="ctr">
                      <a:solidFill>
                        <a:srgbClr val="B9C7CB"/>
                      </a:solidFill>
                      <a:prstDash val="solid"/>
                      <a:round/>
                      <a:headEnd type="none" w="med" len="med"/>
                      <a:tailEnd type="none" w="med" len="med"/>
                    </a:lnL>
                    <a:lnR w="12700" cap="flat" cmpd="sng" algn="ctr">
                      <a:solidFill>
                        <a:srgbClr val="B9C7CB"/>
                      </a:solidFill>
                      <a:prstDash val="solid"/>
                      <a:round/>
                      <a:headEnd type="none" w="med" len="med"/>
                      <a:tailEnd type="none" w="med" len="med"/>
                    </a:lnR>
                    <a:lnT w="12700" cap="flat" cmpd="sng" algn="ctr">
                      <a:solidFill>
                        <a:srgbClr val="B9C7CB"/>
                      </a:solidFill>
                      <a:prstDash val="solid"/>
                      <a:round/>
                      <a:headEnd type="none" w="med" len="med"/>
                      <a:tailEnd type="none" w="med" len="med"/>
                    </a:lnT>
                    <a:lnB w="12700" cap="flat" cmpd="sng" algn="ctr">
                      <a:solidFill>
                        <a:srgbClr val="B9C7CB"/>
                      </a:solidFill>
                      <a:prstDash val="solid"/>
                      <a:round/>
                      <a:headEnd type="none" w="med" len="med"/>
                      <a:tailEnd type="none" w="med" len="med"/>
                    </a:lnB>
                  </a:tcPr>
                </a:tc>
              </a:tr>
            </a:tbl>
          </a:graphicData>
        </a:graphic>
      </p:graphicFrame>
      <p:sp>
        <p:nvSpPr>
          <p:cNvPr id="4" name="Text 1"/>
          <p:cNvSpPr/>
          <p:nvPr/>
        </p:nvSpPr>
        <p:spPr>
          <a:xfrm>
            <a:off x="812800" y="579628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5F78"/>
                </a:solidFill>
                <a:latin typeface="Montserrat" pitchFamily="34" charset="0"/>
                <a:ea typeface="Montserrat" pitchFamily="34" charset="-122"/>
                <a:cs typeface="Montserrat" pitchFamily="34" charset="-120"/>
              </a:rPr>
              <a:t>Checked on a synthetic dataset: all modules import, the app starts in preview mode and the full pipeline runs.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4A6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CFF"/>
                </a:solidFill>
                <a:latin typeface="Montserrat" pitchFamily="34" charset="0"/>
                <a:ea typeface="Montserrat" pitchFamily="34" charset="-122"/>
                <a:cs typeface="Montserrat" pitchFamily="34" charset="-120"/>
              </a:rPr>
              <a:t>Workflow and Next Steps</a:t>
            </a:r>
            <a:endParaRPr lang="en-US" sz="3600" dirty="0"/>
          </a:p>
        </p:txBody>
      </p:sp>
      <p:sp>
        <p:nvSpPr>
          <p:cNvPr id="3" name="Shape 1"/>
          <p:cNvSpPr/>
          <p:nvPr/>
        </p:nvSpPr>
        <p:spPr>
          <a:xfrm>
            <a:off x="812800" y="2305050"/>
            <a:ext cx="5181600" cy="2484120"/>
          </a:xfrm>
          <a:prstGeom prst="roundRect">
            <a:avLst>
              <a:gd name="adj" fmla="val 6135"/>
            </a:avLst>
          </a:prstGeom>
          <a:solidFill>
            <a:srgbClr val="0A5E87"/>
          </a:solidFill>
          <a:ln/>
        </p:spPr>
      </p:sp>
      <p:sp>
        <p:nvSpPr>
          <p:cNvPr id="4" name="Text 2"/>
          <p:cNvSpPr/>
          <p:nvPr/>
        </p:nvSpPr>
        <p:spPr>
          <a:xfrm>
            <a:off x="1066800" y="2559050"/>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CFF"/>
                </a:solidFill>
                <a:latin typeface="Montserrat" pitchFamily="34" charset="0"/>
                <a:ea typeface="Montserrat" pitchFamily="34" charset="-122"/>
                <a:cs typeface="Montserrat" pitchFamily="34" charset="-120"/>
              </a:rPr>
              <a:t>End-to-end workflow</a:t>
            </a:r>
            <a:endParaRPr lang="en-US" sz="1800" dirty="0"/>
          </a:p>
        </p:txBody>
      </p:sp>
      <p:sp>
        <p:nvSpPr>
          <p:cNvPr id="5" name="Text 3"/>
          <p:cNvSpPr/>
          <p:nvPr/>
        </p:nvSpPr>
        <p:spPr>
          <a:xfrm>
            <a:off x="1112044" y="2934971"/>
            <a:ext cx="4760944" cy="1358900"/>
          </a:xfrm>
          <a:prstGeom prst="rect">
            <a:avLst/>
          </a:prstGeom>
          <a:noFill/>
          <a:ln/>
        </p:spPr>
        <p:txBody>
          <a:bodyPr wrap="square" lIns="0" tIns="0" rIns="0" bIns="0" rtlCol="0" anchor="t">
            <a:normAutofit/>
          </a:bodyPr>
          <a:lstStyle/>
          <a:p>
            <a:pPr algn="l" marL="208756" indent="-208756">
              <a:lnSpc>
                <a:spcPts val="2100"/>
              </a:lnSpc>
              <a:buSzPct val="100000"/>
              <a:buFontTx/>
              <a:buAutoNum type="arabicPeriod" startAt="1"/>
            </a:pPr>
            <a:r>
              <a:rPr lang="en-US" sz="1400" dirty="0">
                <a:solidFill>
                  <a:srgbClr val="F7FCFF"/>
                </a:solidFill>
                <a:latin typeface="Montserrat" pitchFamily="34" charset="0"/>
                <a:ea typeface="Montserrat" pitchFamily="34" charset="-122"/>
                <a:cs typeface="Montserrat" pitchFamily="34" charset="-120"/>
              </a:rPr>
              <a:t>Raw Online Retail II file</a:t>
            </a:r>
            <a:endParaRPr lang="en-US" sz="1400" dirty="0"/>
          </a:p>
          <a:p>
            <a:pPr algn="l" marL="208756" indent="-208756">
              <a:lnSpc>
                <a:spcPts val="2100"/>
              </a:lnSpc>
              <a:buSzPct val="100000"/>
              <a:buFontTx/>
              <a:buAutoNum type="arabicPeriod" startAt="1"/>
            </a:pPr>
            <a:r>
              <a:rPr lang="en-US" sz="1400" dirty="0">
                <a:solidFill>
                  <a:srgbClr val="F7FCFF"/>
                </a:solidFill>
                <a:latin typeface="Montserrat" pitchFamily="34" charset="0"/>
                <a:ea typeface="Montserrat" pitchFamily="34" charset="-122"/>
                <a:cs typeface="Montserrat" pitchFamily="34" charset="-120"/>
              </a:rPr>
              <a:t>Cleaning and sales summaries</a:t>
            </a:r>
            <a:endParaRPr lang="en-US" sz="1400" dirty="0"/>
          </a:p>
          <a:p>
            <a:pPr algn="l" marL="208756" indent="-208756">
              <a:lnSpc>
                <a:spcPts val="2100"/>
              </a:lnSpc>
              <a:buSzPct val="100000"/>
              <a:buFontTx/>
              <a:buAutoNum type="arabicPeriod" startAt="1"/>
            </a:pPr>
            <a:r>
              <a:rPr lang="en-US" sz="1400" dirty="0">
                <a:solidFill>
                  <a:srgbClr val="F7FCFF"/>
                </a:solidFill>
                <a:latin typeface="Montserrat" pitchFamily="34" charset="0"/>
                <a:ea typeface="Montserrat" pitchFamily="34" charset="-122"/>
                <a:cs typeface="Montserrat" pitchFamily="34" charset="-120"/>
              </a:rPr>
              <a:t>RFM and K-Means segments</a:t>
            </a:r>
            <a:endParaRPr lang="en-US" sz="1400" dirty="0"/>
          </a:p>
          <a:p>
            <a:pPr algn="l" marL="208756" indent="-208756">
              <a:lnSpc>
                <a:spcPts val="2100"/>
              </a:lnSpc>
              <a:buSzPct val="100000"/>
              <a:buFontTx/>
              <a:buAutoNum type="arabicPeriod" startAt="1"/>
            </a:pPr>
            <a:r>
              <a:rPr lang="en-US" sz="1400" dirty="0">
                <a:solidFill>
                  <a:srgbClr val="F7FCFF"/>
                </a:solidFill>
                <a:latin typeface="Montserrat" pitchFamily="34" charset="0"/>
                <a:ea typeface="Montserrat" pitchFamily="34" charset="-122"/>
                <a:cs typeface="Montserrat" pitchFamily="34" charset="-120"/>
              </a:rPr>
              <a:t>Churn labels, training and evaluation</a:t>
            </a:r>
            <a:endParaRPr lang="en-US" sz="1400" dirty="0"/>
          </a:p>
          <a:p>
            <a:pPr algn="l" marL="208756" indent="-208756">
              <a:lnSpc>
                <a:spcPts val="2100"/>
              </a:lnSpc>
              <a:buSzPct val="100000"/>
              <a:buFontTx/>
              <a:buAutoNum type="arabicPeriod" startAt="1"/>
            </a:pPr>
            <a:r>
              <a:rPr lang="en-US" sz="1400" dirty="0">
                <a:solidFill>
                  <a:srgbClr val="F7FCFF"/>
                </a:solidFill>
                <a:latin typeface="Montserrat" pitchFamily="34" charset="0"/>
                <a:ea typeface="Montserrat" pitchFamily="34" charset="-122"/>
                <a:cs typeface="Montserrat" pitchFamily="34" charset="-120"/>
              </a:rPr>
              <a:t>Saved models and scores feed the dashboard</a:t>
            </a:r>
            <a:endParaRPr lang="en-US" sz="1400" dirty="0"/>
          </a:p>
        </p:txBody>
      </p:sp>
      <p:sp>
        <p:nvSpPr>
          <p:cNvPr id="6" name="Shape 4"/>
          <p:cNvSpPr/>
          <p:nvPr/>
        </p:nvSpPr>
        <p:spPr>
          <a:xfrm>
            <a:off x="6197600" y="2305050"/>
            <a:ext cx="5181600" cy="2484120"/>
          </a:xfrm>
          <a:prstGeom prst="roundRect">
            <a:avLst>
              <a:gd name="adj" fmla="val 6135"/>
            </a:avLst>
          </a:prstGeom>
          <a:solidFill>
            <a:srgbClr val="99B4DE"/>
          </a:solidFill>
          <a:ln/>
        </p:spPr>
      </p:sp>
      <p:sp>
        <p:nvSpPr>
          <p:cNvPr id="7" name="Text 5"/>
          <p:cNvSpPr/>
          <p:nvPr/>
        </p:nvSpPr>
        <p:spPr>
          <a:xfrm>
            <a:off x="6451600" y="2559050"/>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4A6D"/>
                </a:solidFill>
                <a:latin typeface="Montserrat" pitchFamily="34" charset="0"/>
                <a:ea typeface="Montserrat" pitchFamily="34" charset="-122"/>
                <a:cs typeface="Montserrat" pitchFamily="34" charset="-120"/>
              </a:rPr>
              <a:t>Limitations</a:t>
            </a:r>
            <a:endParaRPr lang="en-US" sz="1800" dirty="0"/>
          </a:p>
        </p:txBody>
      </p:sp>
      <p:sp>
        <p:nvSpPr>
          <p:cNvPr id="8" name="Text 6"/>
          <p:cNvSpPr/>
          <p:nvPr/>
        </p:nvSpPr>
        <p:spPr>
          <a:xfrm>
            <a:off x="6536182" y="2934971"/>
            <a:ext cx="4721606" cy="16256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004A6D"/>
                </a:solidFill>
                <a:latin typeface="Montserrat" pitchFamily="34" charset="0"/>
                <a:ea typeface="Montserrat" pitchFamily="34" charset="-122"/>
                <a:cs typeface="Montserrat" pitchFamily="34" charset="-120"/>
              </a:rPr>
              <a:t>Result files must be generated locally and added to the repository</a:t>
            </a:r>
            <a:endParaRPr lang="en-US" sz="1400" dirty="0"/>
          </a:p>
          <a:p>
            <a:pPr algn="l" marL="169418" indent="-169418">
              <a:lnSpc>
                <a:spcPts val="2100"/>
              </a:lnSpc>
              <a:buSzPct val="100000"/>
              <a:buChar char="•"/>
            </a:pPr>
            <a:r>
              <a:rPr lang="en-US" sz="1400" dirty="0">
                <a:solidFill>
                  <a:srgbClr val="004A6D"/>
                </a:solidFill>
                <a:latin typeface="Montserrat" pitchFamily="34" charset="0"/>
                <a:ea typeface="Montserrat" pitchFamily="34" charset="-122"/>
                <a:cs typeface="Montserrat" pitchFamily="34" charset="-120"/>
              </a:rPr>
              <a:t>Churn is a 90-day inactivity proxy</a:t>
            </a:r>
            <a:endParaRPr lang="en-US" sz="1400" dirty="0"/>
          </a:p>
          <a:p>
            <a:pPr algn="l" marL="169418" indent="-169418">
              <a:lnSpc>
                <a:spcPts val="2100"/>
              </a:lnSpc>
              <a:buSzPct val="100000"/>
              <a:buChar char="•"/>
            </a:pPr>
            <a:r>
              <a:rPr lang="en-US" sz="1400" dirty="0">
                <a:solidFill>
                  <a:srgbClr val="004A6D"/>
                </a:solidFill>
                <a:latin typeface="Montserrat" pitchFamily="34" charset="0"/>
                <a:ea typeface="Montserrat" pitchFamily="34" charset="-122"/>
                <a:cs typeface="Montserrat" pitchFamily="34" charset="-120"/>
              </a:rPr>
              <a:t>Returns are removed, not netted</a:t>
            </a:r>
            <a:endParaRPr lang="en-US" sz="1400" dirty="0"/>
          </a:p>
          <a:p>
            <a:pPr algn="l" marL="169418" indent="-169418">
              <a:lnSpc>
                <a:spcPts val="2100"/>
              </a:lnSpc>
              <a:buSzPct val="100000"/>
              <a:buChar char="•"/>
            </a:pPr>
            <a:r>
              <a:rPr lang="en-US" sz="1400" dirty="0">
                <a:solidFill>
                  <a:srgbClr val="004A6D"/>
                </a:solidFill>
                <a:latin typeface="Montserrat" pitchFamily="34" charset="0"/>
                <a:ea typeface="Montserrat" pitchFamily="34" charset="-122"/>
                <a:cs typeface="Montserrat" pitchFamily="34" charset="-120"/>
              </a:rPr>
              <a:t>Tests use synthetic data, so real metrics are still pending</a:t>
            </a:r>
            <a:endParaRPr lang="en-US" sz="1400" dirty="0"/>
          </a:p>
        </p:txBody>
      </p:sp>
      <p:sp>
        <p:nvSpPr>
          <p:cNvPr id="9" name="Text 7"/>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F9FF"/>
                </a:solidFill>
                <a:latin typeface="Montserrat" pitchFamily="34" charset="0"/>
                <a:ea typeface="Montserrat" pitchFamily="34" charset="-122"/>
                <a:cs typeface="Montserrat" pitchFamily="34" charset="-120"/>
              </a:rPr>
              <a:t>Thank you. Questions?</a:t>
            </a:r>
            <a:endParaRPr lang="en-US" sz="1500" dirty="0"/>
          </a:p>
        </p:txBody>
      </p:sp>
    </p:spTree>
  </p:cSld>
  <p:clrMapOvr>
    <a:masterClrMapping/>
  </p:clrMapOvr>
</p:sld>
</file>

<file path=ppt/theme/theme1.xml><?xml version="1.0" encoding="utf-8"?>
<a:theme xmlns:a="http://schemas.openxmlformats.org/drawingml/2006/main" name="Customer Intelligence System">
  <a:themeElements>
    <a:clrScheme name="Customer Intelligence System">
      <a:dk1>
        <a:srgbClr val="004A6D"/>
      </a:dk1>
      <a:lt1>
        <a:srgbClr val="F7FCFF"/>
      </a:lt1>
      <a:dk2>
        <a:srgbClr val="3E7792"/>
      </a:dk2>
      <a:lt2>
        <a:srgbClr val="DEEAF0"/>
      </a:lt2>
      <a:accent1>
        <a:srgbClr val="99B4DE"/>
      </a:accent1>
      <a:accent2>
        <a:srgbClr val="3B5F78"/>
      </a:accent2>
      <a:accent3>
        <a:srgbClr val="0A5E87"/>
      </a:accent3>
      <a:accent4>
        <a:srgbClr val="9AA0A6"/>
      </a:accent4>
      <a:accent5>
        <a:srgbClr val="6391A7"/>
      </a:accent5>
      <a:accent6>
        <a:srgbClr val="88ACBD"/>
      </a:accent6>
      <a:hlink>
        <a:srgbClr val="0563C1"/>
      </a:hlink>
      <a:folHlink>
        <a:srgbClr val="954F72"/>
      </a:folHlink>
    </a:clrScheme>
    <a:fontScheme name="Customer Intelligence System">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Intelligence System</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Montserrat
Copyright 2024 The Montserrat.Git Project Authors (https://github.com/JulietaUla/Montserrat.git)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2026-10-28T21:51:26Z</dcterms:created>
  <dcterms:modified xsi:type="dcterms:W3CDTF">2026-10-28T21:51:26Z</dcterms:modified>
</cp:coreProperties>
</file>